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warm. Ask what they currently use for values/habits education before pitching anything.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do you currently teach values/habits? What do parents ask for most?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sample story here if presenting live — this slide is the pitch in one breath.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"minutes, not an afternoon of lesson planning."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privacy-first if the audience is a school (consent-sensitive); lead with fast if it is a busy nursery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of these topics is already part of their curriculum.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Ask directly: "Can we start with one class next week?"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image" Target="../media/image-6-1.png"/><Relationship Id="rId8" Type="http://schemas.openxmlformats.org/officeDocument/2006/relationships/image" Target="../media/image-6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82296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Khayali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200400"/>
            <a:ext cx="12188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3A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خيالي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0" y="38862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480560" y="4617720"/>
            <a:ext cx="3227832" cy="457200"/>
          </a:xfrm>
          <a:prstGeom prst="roundRect">
            <a:avLst>
              <a:gd name="adj" fmla="val 50000"/>
            </a:avLst>
          </a:prstGeom>
          <a:solidFill>
            <a:srgbClr val="262A4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480560" y="4617720"/>
            <a:ext cx="3227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PILOT PROGRAM · DUBAI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E204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614476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bilingual storybooks for nurseries &amp; schools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2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Values lessons don't stick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Nurseries run great values &amp; habits lessons — but worksheets and posters are generic. Every child gets the same lesson, and most forget it by the following week.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6" name="Image 0" descr="/tmp/claude-0/-home-user-PATRIX-Technology/c80d2a49-d0a0-5b05-bff1-0e28a63155b8/scratchpad/deck/icons/users-E2708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4290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One-size-fits-all worksheets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 gets the same generic handout — nothing about it is theirs.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10" name="Image 1" descr="/tmp/claude-0/-home-user-PATRIX-Technology/c80d2a49-d0a0-5b05-bff1-0e28a63155b8/scratchpad/deck/icons/heart-E2708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4290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0916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 connection</a:t>
            </a:r>
            <a:endParaRPr lang="en-US" sz="1450" dirty="0"/>
          </a:p>
        </p:txBody>
      </p:sp>
      <p:sp>
        <p:nvSpPr>
          <p:cNvPr id="12" name="Text 8"/>
          <p:cNvSpPr txBox="1"/>
          <p:nvPr/>
        </p:nvSpPr>
        <p:spPr>
          <a:xfrm>
            <a:off x="470916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isn't about them, so it doesn't stick past the classroom door.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229600" y="3108960"/>
            <a:ext cx="3383280" cy="2560320"/>
          </a:xfrm>
          <a:prstGeom prst="roundRect">
            <a:avLst>
              <a:gd name="adj" fmla="val 4286"/>
            </a:avLst>
          </a:prstGeom>
          <a:solidFill>
            <a:srgbClr val="1E2040"/>
          </a:solidFill>
          <a:ln/>
        </p:spPr>
      </p:sp>
      <p:pic>
        <p:nvPicPr>
          <p:cNvPr id="14" name="Image 2" descr="/tmp/claude-0/-home-user-PATRIX-Technology/c80d2a49-d0a0-5b05-bff1-0e28a63155b8/scratchpad/deck/icons/chart-E2708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42900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503920" y="4069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measure what landed</a:t>
            </a:r>
            <a:endParaRPr lang="en-US" sz="1450" dirty="0"/>
          </a:p>
        </p:txBody>
      </p:sp>
      <p:sp>
        <p:nvSpPr>
          <p:cNvPr id="16" name="Text 11"/>
          <p:cNvSpPr txBox="1"/>
          <p:nvPr/>
        </p:nvSpPr>
        <p:spPr>
          <a:xfrm>
            <a:off x="8503920" y="4709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easy way to know which lessons actually worked, or which child needs a repeat.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becomes the hero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6596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6" name="Image 0" descr="/tmp/claude-0/-home-user-PATRIX-Technology/c80d2a49-d0a0-5b05-bff1-0e28a63155b8/scratchpad/deck/icons/child-1415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52" y="249631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name &amp; avatar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cartoon character built to match the child — never a real photo.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3484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11" name="Image 1" descr="/tmp/claude-0/-home-user-PATRIX-Technology/c80d2a49-d0a0-5b05-bff1-0e28a63155b8/scratchpad/deck/icons/language-14152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2" y="249631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language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English or Arabic, right-to-left — not a translation afterthought.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201168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262A4D"/>
          </a:solidFill>
          <a:ln w="12700">
            <a:solidFill>
              <a:srgbClr val="E3AC3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55480" y="2331720"/>
            <a:ext cx="731520" cy="731520"/>
          </a:xfrm>
          <a:prstGeom prst="ellipse">
            <a:avLst/>
          </a:prstGeom>
          <a:solidFill>
            <a:srgbClr val="E3AC3D"/>
          </a:solidFill>
          <a:ln/>
        </p:spPr>
      </p:sp>
      <p:pic>
        <p:nvPicPr>
          <p:cNvPr id="16" name="Image 2" descr="/tmp/claude-0/-home-user-PATRIX-Technology/c80d2a49-d0a0-5b05-bff1-0e28a63155b8/scratchpad/deck/icons/magic-14152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49631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582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per story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8503920" y="393192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eating, honesty, hand-washing and more — a focused lesson, not a lecture.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steps, a few minutes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82880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pic>
        <p:nvPicPr>
          <p:cNvPr id="6" name="Image 0" descr="/tmp/claude-0/-home-user-PATRIX-Technology/c80d2a49-d0a0-5b05-bff1-0e28a63155b8/scratchpad/deck/icons/users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264" y="3154680"/>
            <a:ext cx="438912" cy="4389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class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children once — parents grant consent digitally, on their own phone.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041648" y="2057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62356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2356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pic>
        <p:nvPicPr>
          <p:cNvPr id="12" name="Image 1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4" y="3154680"/>
            <a:ext cx="438912" cy="4389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3484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theme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ready-made value or habit theme, in English or Arabic.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7836408" y="205740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9418320" y="1920240"/>
            <a:ext cx="1005840" cy="1005840"/>
          </a:xfrm>
          <a:prstGeom prst="ellipse">
            <a:avLst/>
          </a:prstGeom>
          <a:solidFill>
            <a:srgbClr val="262A4D"/>
          </a:solidFill>
          <a:ln w="25400">
            <a:solidFill>
              <a:srgbClr val="2FBFA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418320" y="1920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B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pic>
        <p:nvPicPr>
          <p:cNvPr id="18" name="Image 2" descr="/tmp/claude-0/-home-user-PATRIX-Technology/c80d2a49-d0a0-5b05-bff1-0e28a63155b8/scratchpad/deck/icons/boo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3154680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22960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print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4251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personalised story is ready in minutes — download, print, or share the PDF.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NURSERIES CHOOSE KHAYALI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real classrooms</a:t>
            </a:r>
            <a:endParaRPr lang="en-US" sz="3200" dirty="0"/>
          </a:p>
        </p:txBody>
      </p:sp>
      <p:pic>
        <p:nvPicPr>
          <p:cNvPr id="4" name="Image 0" descr="/tmp/claude-0/-home-user-PATRIX-Technology/c80d2a49-d0a0-5b05-bff1-0e28a63155b8/scratchpad/deck/icons/shield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783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2121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child photos — ever. Illustrated avatars only, by default.</a:t>
            </a:r>
            <a:endParaRPr lang="en-US" sz="1150" dirty="0"/>
          </a:p>
        </p:txBody>
      </p:sp>
      <p:pic>
        <p:nvPicPr>
          <p:cNvPr id="7" name="Image 1" descr="/tmp/claude-0/-home-user-PATRIX-Technology/c80d2a49-d0a0-5b05-bff1-0e28a63155b8/scratchpad/deck/icons/languag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7180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2926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bilingual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3264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and Arabic, both first-class — not an afterthought translation.</a:t>
            </a:r>
            <a:endParaRPr lang="en-US" sz="1150" dirty="0"/>
          </a:p>
        </p:txBody>
      </p:sp>
      <p:pic>
        <p:nvPicPr>
          <p:cNvPr id="10" name="Image 2" descr="/tmp/claude-0/-home-user-PATRIX-Technology/c80d2a49-d0a0-5b05-bff1-0e28a63155b8/scratchpad/deck/icons/clock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14800"/>
            <a:ext cx="384048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4069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fast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1188720" y="4407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personalised story in minutes, not an afternoon of planning.</a:t>
            </a:r>
            <a:endParaRPr lang="en-US" sz="1150" dirty="0"/>
          </a:p>
        </p:txBody>
      </p:sp>
      <p:pic>
        <p:nvPicPr>
          <p:cNvPr id="13" name="Image 3" descr="/tmp/claude-0/-home-user-PATRIX-Technology/c80d2a49-d0a0-5b05-bff1-0e28a63155b8/scratchpad/deck/icons/gift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25780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52120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tool, many occasions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1188720" y="55504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 lessons, graduations, National Day, and parent takeaway gifts.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17" name="Text 11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LIBRARY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growing library of value &amp; habit themes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5" name="Image 0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627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Eating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319272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8" name="Image 1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21762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05072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998464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1" name="Image 2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2176272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684264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Washing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677656" y="1920240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4" name="Image 3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36" y="2176272"/>
            <a:ext cx="402336" cy="40233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63456" y="192024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Brushing Teeth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640080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17" name="Image 4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255264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25880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Day of School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3319272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0" name="Image 5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152" y="3255264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005072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Sibling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5998464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3" name="Image 6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1344" y="3255264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684264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Money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8677656" y="2999232"/>
            <a:ext cx="2514600" cy="914400"/>
          </a:xfrm>
          <a:prstGeom prst="roundRect">
            <a:avLst>
              <a:gd name="adj" fmla="val 10000"/>
            </a:avLst>
          </a:prstGeom>
          <a:solidFill>
            <a:srgbClr val="1E2040"/>
          </a:solidFill>
          <a:ln/>
        </p:spPr>
      </p:sp>
      <p:pic>
        <p:nvPicPr>
          <p:cNvPr id="26" name="Image 7" descr="/tmp/claude-0/-home-user-PATRIX-Technology/c80d2a49-d0a0-5b05-bff1-0e28a63155b8/scratchpad/deck/icons/palette-F4F1E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0536" y="3255264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9363456" y="2999232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Day Gratitude</a:t>
            </a:r>
            <a:endParaRPr lang="en-US" sz="1250" dirty="0"/>
          </a:p>
        </p:txBody>
      </p:sp>
      <p:sp>
        <p:nvSpPr>
          <p:cNvPr id="28" name="Text 18"/>
          <p:cNvSpPr txBox="1"/>
          <p:nvPr/>
        </p:nvSpPr>
        <p:spPr>
          <a:xfrm>
            <a:off x="640080" y="42519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themes added regularly — tell us what your curriculum needs and we'll build it.</a:t>
            </a:r>
            <a:endParaRPr lang="en-US" sz="1300" dirty="0"/>
          </a:p>
        </p:txBody>
      </p:sp>
      <p:sp>
        <p:nvSpPr>
          <p:cNvPr id="29" name="Text 19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30" name="Text 20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57200"/>
            <a:ext cx="4142232" cy="502920"/>
          </a:xfrm>
          <a:prstGeom prst="roundRect">
            <a:avLst>
              <a:gd name="adj" fmla="val 49091"/>
            </a:avLst>
          </a:prstGeom>
          <a:solidFill>
            <a:srgbClr val="262A4D"/>
          </a:solidFill>
          <a:ln/>
        </p:spPr>
      </p:sp>
      <p:pic>
        <p:nvPicPr>
          <p:cNvPr id="3" name="Image 0" descr="/tmp/claude-0/-home-user-PATRIX-Technology/c80d2a49-d0a0-5b05-bff1-0e28a63155b8/scratchpad/deck/icons/gift-E3AC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566928"/>
            <a:ext cx="292608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663440" y="457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PILOT PROGRAM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0" y="118872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class. Two weeks. Zero cost.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7" name="Image 1" descr="/tmp/claude-0/-home-user-PATRIX-Technology/c80d2a49-d0a0-5b05-bff1-0e28a63155b8/scratchpad/deck/icons/handshake-2FBFA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1440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it up together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call, your class list, and consent links sent to parents — no technical work on your side.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43484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11" name="Image 2" descr="/tmp/claude-0/-home-user-PATRIX-Technology/c80d2a49-d0a0-5b05-bff1-0e28a63155b8/scratchpad/deck/icons/palette-2FBFA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6060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70916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theme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470916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or habit lesson, in English or Arabic, matched to what your class needs right now.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8229600" y="228600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1E2040"/>
          </a:solidFill>
          <a:ln/>
        </p:spPr>
      </p:sp>
      <p:pic>
        <p:nvPicPr>
          <p:cNvPr id="15" name="Image 3" descr="/tmp/claude-0/-home-user-PATRIX-Technology/c80d2a49-d0a0-5b05-bff1-0e28a63155b8/scratchpad/deck/icons/comment-2FBFA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60604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503920" y="32461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tell us honestly what worked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8503920" y="384048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only payment we ask for during the pilot — your real feedback, good or bad.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Khayali — Nursery Pilot Program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ATRIX-Technology/c80d2a49-d0a0-5b05-bff1-0e28a63155b8/scratchpad/deck/icon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18872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97180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F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start with one class.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0" y="388620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A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Yousef Hawwari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0" y="42976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+971 55 599 0694    ·    yousefhawwari@gmail.com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6035040"/>
            <a:ext cx="12188952" cy="822960"/>
          </a:xfrm>
          <a:prstGeom prst="rect">
            <a:avLst/>
          </a:prstGeom>
          <a:solidFill>
            <a:srgbClr val="1E204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614476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9A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child, the hero of their own story.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2026-09-25T17:56:34Z</dcterms:created>
  <dcterms:modified xsi:type="dcterms:W3CDTF">2026-09-25T17:56:34Z</dcterms:modified>
</cp:coreProperties>
</file>