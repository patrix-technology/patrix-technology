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warm. Ask what they currently use for values/habits education before pitching anything.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how do you currently teach values/habits? What do parents ask for most?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 sample story here if presenting live — this slide is the pitch in one breath.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"minutes, not an afternoon of lesson planning."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privacy-first if the audience is a school (consent-sensitive); lead with fast if it is a busy nursery owner.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which of these topics is already part of their curriculum.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here. Ask directly: "Can we start with one class next week?"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1.png"/><Relationship Id="rId3" Type="http://schemas.openxmlformats.org/officeDocument/2006/relationships/image" Target="../media/image-6-1.png"/><Relationship Id="rId4" Type="http://schemas.openxmlformats.org/officeDocument/2006/relationships/image" Target="../media/image-6-1.png"/><Relationship Id="rId5" Type="http://schemas.openxmlformats.org/officeDocument/2006/relationships/image" Target="../media/image-6-1.png"/><Relationship Id="rId6" Type="http://schemas.openxmlformats.org/officeDocument/2006/relationships/image" Target="../media/image-6-1.png"/><Relationship Id="rId7" Type="http://schemas.openxmlformats.org/officeDocument/2006/relationships/image" Target="../media/image-6-1.png"/><Relationship Id="rId8" Type="http://schemas.openxmlformats.org/officeDocument/2006/relationships/image" Target="../media/image-6-1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ATRIX-Technology/c80d2a49-d0a0-5b05-bff1-0e28a63155b8/scratchpad/deck/icon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7528" y="822960"/>
            <a:ext cx="1463040" cy="14630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251460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Khayali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0" y="3200400"/>
            <a:ext cx="12188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3A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خيالي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0" y="38862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child, the hero of their own story.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480560" y="4617720"/>
            <a:ext cx="3227832" cy="457200"/>
          </a:xfrm>
          <a:prstGeom prst="roundRect">
            <a:avLst>
              <a:gd name="adj" fmla="val 50000"/>
            </a:avLst>
          </a:prstGeom>
          <a:solidFill>
            <a:srgbClr val="262A4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480560" y="4617720"/>
            <a:ext cx="3227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E3A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PILOT PROGRAM · DUBAI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0" y="6035040"/>
            <a:ext cx="12188952" cy="822960"/>
          </a:xfrm>
          <a:prstGeom prst="rect">
            <a:avLst/>
          </a:prstGeom>
          <a:solidFill>
            <a:srgbClr val="1E204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0080" y="6144768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Personalised bilingual storybooks for nurseries &amp; schools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2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Values lessons don't stick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Nurseries run great values &amp; habits lessons — but worksheets and posters are generic. Every child gets the same lesson, and most forget it by the following week.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108960"/>
            <a:ext cx="3383280" cy="2560320"/>
          </a:xfrm>
          <a:prstGeom prst="roundRect">
            <a:avLst>
              <a:gd name="adj" fmla="val 4286"/>
            </a:avLst>
          </a:prstGeom>
          <a:solidFill>
            <a:srgbClr val="1E2040"/>
          </a:solidFill>
          <a:ln/>
        </p:spPr>
      </p:sp>
      <p:pic>
        <p:nvPicPr>
          <p:cNvPr id="6" name="Image 0" descr="/tmp/claude-0/-home-user-PATRIX-Technology/c80d2a49-d0a0-5b05-bff1-0e28a63155b8/scratchpad/deck/icons/users-E2708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42900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14400" y="40690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One-size-fits-all worksheets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47091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child gets the same generic handout — nothing about it is theirs.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434840" y="3108960"/>
            <a:ext cx="3383280" cy="2560320"/>
          </a:xfrm>
          <a:prstGeom prst="roundRect">
            <a:avLst>
              <a:gd name="adj" fmla="val 4286"/>
            </a:avLst>
          </a:prstGeom>
          <a:solidFill>
            <a:srgbClr val="1E2040"/>
          </a:solidFill>
          <a:ln/>
        </p:spPr>
      </p:sp>
      <p:pic>
        <p:nvPicPr>
          <p:cNvPr id="10" name="Image 1" descr="/tmp/claude-0/-home-user-PATRIX-Technology/c80d2a49-d0a0-5b05-bff1-0e28a63155b8/scratchpad/deck/icons/heart-E2708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342900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09160" y="40690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personal connection</a:t>
            </a:r>
            <a:endParaRPr lang="en-US" sz="1450" dirty="0"/>
          </a:p>
        </p:txBody>
      </p:sp>
      <p:sp>
        <p:nvSpPr>
          <p:cNvPr id="12" name="Text 8"/>
          <p:cNvSpPr txBox="1"/>
          <p:nvPr/>
        </p:nvSpPr>
        <p:spPr>
          <a:xfrm>
            <a:off x="4709160" y="47091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lesson isn't about them, so it doesn't stick past the classroom door.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229600" y="3108960"/>
            <a:ext cx="3383280" cy="2560320"/>
          </a:xfrm>
          <a:prstGeom prst="roundRect">
            <a:avLst>
              <a:gd name="adj" fmla="val 4286"/>
            </a:avLst>
          </a:prstGeom>
          <a:solidFill>
            <a:srgbClr val="1E2040"/>
          </a:solidFill>
          <a:ln/>
        </p:spPr>
      </p:sp>
      <p:pic>
        <p:nvPicPr>
          <p:cNvPr id="14" name="Image 2" descr="/tmp/claude-0/-home-user-PATRIX-Technology/c80d2a49-d0a0-5b05-bff1-0e28a63155b8/scratchpad/deck/icons/chart-E2708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3429000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503920" y="40690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 measure what landed</a:t>
            </a:r>
            <a:endParaRPr lang="en-US" sz="1450" dirty="0"/>
          </a:p>
        </p:txBody>
      </p:sp>
      <p:sp>
        <p:nvSpPr>
          <p:cNvPr id="16" name="Text 11"/>
          <p:cNvSpPr txBox="1"/>
          <p:nvPr/>
        </p:nvSpPr>
        <p:spPr>
          <a:xfrm>
            <a:off x="8503920" y="47091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easy way to know which lessons actually worked, or which child needs a repeat.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Khayali — Nursery Pilot Program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child becomes the hero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383280" cy="3108960"/>
          </a:xfrm>
          <a:prstGeom prst="roundRect">
            <a:avLst>
              <a:gd name="adj" fmla="val 3529"/>
            </a:avLst>
          </a:prstGeom>
          <a:solidFill>
            <a:srgbClr val="262A4D"/>
          </a:solidFill>
          <a:ln w="12700">
            <a:solidFill>
              <a:srgbClr val="E3AC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65960" y="2331720"/>
            <a:ext cx="731520" cy="731520"/>
          </a:xfrm>
          <a:prstGeom prst="ellipse">
            <a:avLst/>
          </a:prstGeom>
          <a:solidFill>
            <a:srgbClr val="E3AC3D"/>
          </a:solidFill>
          <a:ln/>
        </p:spPr>
      </p:sp>
      <p:pic>
        <p:nvPicPr>
          <p:cNvPr id="6" name="Image 0" descr="/tmp/claude-0/-home-user-PATRIX-Technology/c80d2a49-d0a0-5b05-bff1-0e28a63155b8/scratchpad/deck/icons/child-14152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52" y="2496312"/>
            <a:ext cx="402336" cy="4023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3246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name &amp; avatar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cartoon character built to match the child — never a real photo.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434840" y="2011680"/>
            <a:ext cx="3383280" cy="3108960"/>
          </a:xfrm>
          <a:prstGeom prst="roundRect">
            <a:avLst>
              <a:gd name="adj" fmla="val 3529"/>
            </a:avLst>
          </a:prstGeom>
          <a:solidFill>
            <a:srgbClr val="262A4D"/>
          </a:solidFill>
          <a:ln w="12700">
            <a:solidFill>
              <a:srgbClr val="E3AC3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60720" y="2331720"/>
            <a:ext cx="731520" cy="731520"/>
          </a:xfrm>
          <a:prstGeom prst="ellipse">
            <a:avLst/>
          </a:prstGeom>
          <a:solidFill>
            <a:srgbClr val="E3AC3D"/>
          </a:solidFill>
          <a:ln/>
        </p:spPr>
      </p:sp>
      <p:pic>
        <p:nvPicPr>
          <p:cNvPr id="11" name="Image 1" descr="/tmp/claude-0/-home-user-PATRIX-Technology/c80d2a49-d0a0-5b05-bff1-0e28a63155b8/scratchpad/deck/icons/language-14152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312" y="249631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63440" y="3246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language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4709160" y="393192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English or Arabic, right-to-left — not a translation afterthought.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229600" y="2011680"/>
            <a:ext cx="3383280" cy="3108960"/>
          </a:xfrm>
          <a:prstGeom prst="roundRect">
            <a:avLst>
              <a:gd name="adj" fmla="val 3529"/>
            </a:avLst>
          </a:prstGeom>
          <a:solidFill>
            <a:srgbClr val="262A4D"/>
          </a:solidFill>
          <a:ln w="12700">
            <a:solidFill>
              <a:srgbClr val="E3AC3D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555480" y="2331720"/>
            <a:ext cx="731520" cy="731520"/>
          </a:xfrm>
          <a:prstGeom prst="ellipse">
            <a:avLst/>
          </a:prstGeom>
          <a:solidFill>
            <a:srgbClr val="E3AC3D"/>
          </a:solidFill>
          <a:ln/>
        </p:spPr>
      </p:sp>
      <p:pic>
        <p:nvPicPr>
          <p:cNvPr id="16" name="Image 2" descr="/tmp/claude-0/-home-user-PATRIX-Technology/c80d2a49-d0a0-5b05-bff1-0e28a63155b8/scratchpad/deck/icons/magic-14152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0072" y="249631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458200" y="3246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value per story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8503920" y="393192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eating, honesty, hand-washing and more — a focused lesson, not a lecture.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Khayali — Nursery Pilot Program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3A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steps, a few minutes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828800" y="1920240"/>
            <a:ext cx="1005840" cy="1005840"/>
          </a:xfrm>
          <a:prstGeom prst="ellipse">
            <a:avLst/>
          </a:prstGeom>
          <a:solidFill>
            <a:srgbClr val="262A4D"/>
          </a:solidFill>
          <a:ln w="25400">
            <a:solidFill>
              <a:srgbClr val="2FB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0" y="1920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BF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pic>
        <p:nvPicPr>
          <p:cNvPr id="6" name="Image 0" descr="/tmp/claude-0/-home-user-PATRIX-Technology/c80d2a49-d0a0-5b05-bff1-0e28a63155b8/scratchpad/deck/icons/users-F4F1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2264" y="3154680"/>
            <a:ext cx="438912" cy="4389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3749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your class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251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children once — parents grant consent digitally, on their own phone.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4041648" y="205740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5623560" y="1920240"/>
            <a:ext cx="1005840" cy="1005840"/>
          </a:xfrm>
          <a:prstGeom prst="ellipse">
            <a:avLst/>
          </a:prstGeom>
          <a:solidFill>
            <a:srgbClr val="262A4D"/>
          </a:solidFill>
          <a:ln w="25400">
            <a:solidFill>
              <a:srgbClr val="2FBF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623560" y="1920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BF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pic>
        <p:nvPicPr>
          <p:cNvPr id="12" name="Image 1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024" y="3154680"/>
            <a:ext cx="438912" cy="43891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434840" y="3749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theme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663440" y="4251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ready-made value or habit theme, in English or Arabic.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7836408" y="205740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2"/>
          <p:cNvSpPr/>
          <p:nvPr/>
        </p:nvSpPr>
        <p:spPr>
          <a:xfrm>
            <a:off x="9418320" y="1920240"/>
            <a:ext cx="1005840" cy="1005840"/>
          </a:xfrm>
          <a:prstGeom prst="ellipse">
            <a:avLst/>
          </a:prstGeom>
          <a:solidFill>
            <a:srgbClr val="262A4D"/>
          </a:solidFill>
          <a:ln w="25400">
            <a:solidFill>
              <a:srgbClr val="2FBFA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418320" y="1920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BF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pic>
        <p:nvPicPr>
          <p:cNvPr id="18" name="Image 2" descr="/tmp/claude-0/-home-user-PATRIX-Technology/c80d2a49-d0a0-5b05-bff1-0e28a63155b8/scratchpad/deck/icons/book-F4F1E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3154680"/>
            <a:ext cx="438912" cy="43891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229600" y="3749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or print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458200" y="4251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personalised story is ready in minutes — download, print, or share the PDF.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Khayali — Nursery Pilot Program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NURSERIES CHOOSE KHAYALI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real classrooms</a:t>
            </a:r>
            <a:endParaRPr lang="en-US" sz="3200" dirty="0"/>
          </a:p>
        </p:txBody>
      </p:sp>
      <p:pic>
        <p:nvPicPr>
          <p:cNvPr id="4" name="Image 0" descr="/tmp/claude-0/-home-user-PATRIX-Technology/c80d2a49-d0a0-5b05-bff1-0e28a63155b8/scratchpad/deck/icons/shield-F4F1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88720" y="178308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Privacy-first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188720" y="2121408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 child photos — ever. Illustrated avatars only, by default.</a:t>
            </a:r>
            <a:endParaRPr lang="en-US" sz="1150" dirty="0"/>
          </a:p>
        </p:txBody>
      </p:sp>
      <p:pic>
        <p:nvPicPr>
          <p:cNvPr id="7" name="Image 1" descr="/tmp/claude-0/-home-user-PATRIX-Technology/c80d2a49-d0a0-5b05-bff1-0e28a63155b8/scratchpad/deck/icons/language-F4F1E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71800"/>
            <a:ext cx="384048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88720" y="292608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Truly bilingual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3264408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and Arabic, both first-class — not an afterthought translation.</a:t>
            </a:r>
            <a:endParaRPr lang="en-US" sz="1150" dirty="0"/>
          </a:p>
        </p:txBody>
      </p:sp>
      <p:pic>
        <p:nvPicPr>
          <p:cNvPr id="10" name="Image 2" descr="/tmp/claude-0/-home-user-PATRIX-Technology/c80d2a49-d0a0-5b05-bff1-0e28a63155b8/scratchpad/deck/icons/clock-F4F1E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114800"/>
            <a:ext cx="384048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88720" y="406908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fast</a:t>
            </a:r>
            <a:endParaRPr lang="en-US" sz="1400" dirty="0"/>
          </a:p>
        </p:txBody>
      </p:sp>
      <p:sp>
        <p:nvSpPr>
          <p:cNvPr id="12" name="Text 7"/>
          <p:cNvSpPr txBox="1"/>
          <p:nvPr/>
        </p:nvSpPr>
        <p:spPr>
          <a:xfrm>
            <a:off x="1188720" y="4407408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personalised story in minutes, not an afternoon of planning.</a:t>
            </a:r>
            <a:endParaRPr lang="en-US" sz="1150" dirty="0"/>
          </a:p>
        </p:txBody>
      </p:sp>
      <p:pic>
        <p:nvPicPr>
          <p:cNvPr id="13" name="Image 3" descr="/tmp/claude-0/-home-user-PATRIX-Technology/c80d2a49-d0a0-5b05-bff1-0e28a63155b8/scratchpad/deck/icons/gift-F4F1E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257800"/>
            <a:ext cx="384048" cy="38404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88720" y="521208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Monthly, not one-time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1188720" y="5550408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story every month, not just once at graduation.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Khayali — Nursery Pilot Program</a:t>
            </a:r>
            <a:endParaRPr lang="en-US" sz="1000" dirty="0"/>
          </a:p>
        </p:txBody>
      </p:sp>
      <p:sp>
        <p:nvSpPr>
          <p:cNvPr id="17" name="Text 11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3A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LIBRARY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growing library of value &amp; habit themes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5" name="Image 0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7627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92024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Eating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319272" y="1920240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8" name="Image 1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2152" y="2176272"/>
            <a:ext cx="402336" cy="40233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005072" y="192024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998464" y="1920240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11" name="Image 2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44" y="2176272"/>
            <a:ext cx="402336" cy="40233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684264" y="192024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Washing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8677656" y="1920240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14" name="Image 3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0536" y="2176272"/>
            <a:ext cx="402336" cy="40233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363456" y="192024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Brushing Teeth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640080" y="2999232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17" name="Image 4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255264"/>
            <a:ext cx="402336" cy="40233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25880" y="299923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Day of School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3319272" y="2999232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20" name="Image 5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2152" y="3255264"/>
            <a:ext cx="402336" cy="40233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4005072" y="299923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Sibling</a:t>
            </a:r>
            <a:endParaRPr lang="en-US" sz="1250" dirty="0"/>
          </a:p>
        </p:txBody>
      </p:sp>
      <p:sp>
        <p:nvSpPr>
          <p:cNvPr id="22" name="Shape 14"/>
          <p:cNvSpPr/>
          <p:nvPr/>
        </p:nvSpPr>
        <p:spPr>
          <a:xfrm>
            <a:off x="5998464" y="2999232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23" name="Image 6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81344" y="3255264"/>
            <a:ext cx="402336" cy="402336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684264" y="299923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 Money</a:t>
            </a:r>
            <a:endParaRPr lang="en-US" sz="1250" dirty="0"/>
          </a:p>
        </p:txBody>
      </p:sp>
      <p:sp>
        <p:nvSpPr>
          <p:cNvPr id="25" name="Shape 16"/>
          <p:cNvSpPr/>
          <p:nvPr/>
        </p:nvSpPr>
        <p:spPr>
          <a:xfrm>
            <a:off x="8677656" y="2999232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26" name="Image 7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60536" y="3255264"/>
            <a:ext cx="402336" cy="402336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9363456" y="299923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Day Gratitude</a:t>
            </a:r>
            <a:endParaRPr lang="en-US" sz="1250" dirty="0"/>
          </a:p>
        </p:txBody>
      </p:sp>
      <p:sp>
        <p:nvSpPr>
          <p:cNvPr id="28" name="Text 18"/>
          <p:cNvSpPr txBox="1"/>
          <p:nvPr/>
        </p:nvSpPr>
        <p:spPr>
          <a:xfrm>
            <a:off x="640080" y="42519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themes added regularly — tell us what your curriculum needs and we'll build it.</a:t>
            </a:r>
            <a:endParaRPr lang="en-US" sz="1300" dirty="0"/>
          </a:p>
        </p:txBody>
      </p:sp>
      <p:sp>
        <p:nvSpPr>
          <p:cNvPr id="29" name="Text 19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Khayali — Nursery Pilot Program</a:t>
            </a:r>
            <a:endParaRPr lang="en-US" sz="1000" dirty="0"/>
          </a:p>
        </p:txBody>
      </p:sp>
      <p:sp>
        <p:nvSpPr>
          <p:cNvPr id="30" name="Text 20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0" y="457200"/>
            <a:ext cx="4142232" cy="502920"/>
          </a:xfrm>
          <a:prstGeom prst="roundRect">
            <a:avLst>
              <a:gd name="adj" fmla="val 49091"/>
            </a:avLst>
          </a:prstGeom>
          <a:solidFill>
            <a:srgbClr val="262A4D"/>
          </a:solidFill>
          <a:ln/>
        </p:spPr>
      </p:sp>
      <p:pic>
        <p:nvPicPr>
          <p:cNvPr id="3" name="Image 0" descr="/tmp/claude-0/-home-user-PATRIX-Technology/c80d2a49-d0a0-5b05-bff1-0e28a63155b8/scratchpad/deck/icons/gift-E3AC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566928"/>
            <a:ext cx="292608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663440" y="45720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E3A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PILOT PROGRAM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0" y="1188720"/>
            <a:ext cx="12188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class. Two weeks. Zero cost.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640080" y="228600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1E2040"/>
          </a:solidFill>
          <a:ln/>
        </p:spPr>
      </p:sp>
      <p:pic>
        <p:nvPicPr>
          <p:cNvPr id="7" name="Image 1" descr="/tmp/claude-0/-home-user-PATRIX-Technology/c80d2a49-d0a0-5b05-bff1-0e28a63155b8/scratchpad/deck/icons/handshake-2FBFA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606040"/>
            <a:ext cx="457200" cy="457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14400" y="32461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set it up together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914400" y="384048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call, your class list, and consent links sent to parents — no technical work on your side.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434840" y="228600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1E2040"/>
          </a:solidFill>
          <a:ln/>
        </p:spPr>
      </p:sp>
      <p:pic>
        <p:nvPicPr>
          <p:cNvPr id="11" name="Image 2" descr="/tmp/claude-0/-home-user-PATRIX-Technology/c80d2a49-d0a0-5b05-bff1-0e28a63155b8/scratchpad/deck/icons/palette-2FBFA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60604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709160" y="32461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pick a theme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4709160" y="384048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value or habit lesson, in English or Arabic, matched to what your class needs right now.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8229600" y="228600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1E2040"/>
          </a:solidFill>
          <a:ln/>
        </p:spPr>
      </p:sp>
      <p:pic>
        <p:nvPicPr>
          <p:cNvPr id="15" name="Image 3" descr="/tmp/claude-0/-home-user-PATRIX-Technology/c80d2a49-d0a0-5b05-bff1-0e28a63155b8/scratchpad/deck/icons/comment-2FBFA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2606040"/>
            <a:ext cx="457200" cy="4572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503920" y="32461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tell us honestly what worked</a:t>
            </a:r>
            <a:endParaRPr lang="en-US" sz="1400" dirty="0"/>
          </a:p>
        </p:txBody>
      </p:sp>
      <p:sp>
        <p:nvSpPr>
          <p:cNvPr id="17" name="Text 11"/>
          <p:cNvSpPr txBox="1"/>
          <p:nvPr/>
        </p:nvSpPr>
        <p:spPr>
          <a:xfrm>
            <a:off x="8503920" y="384048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the only payment we ask for during the pilot — your real feedback, good or bad.</a:t>
            </a:r>
            <a:endParaRPr lang="en-US" sz="1150" dirty="0"/>
          </a:p>
        </p:txBody>
      </p:sp>
      <p:sp>
        <p:nvSpPr>
          <p:cNvPr id="18" name="Text 12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Khayali — Nursery Pilot Program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ATRIX-Technology/c80d2a49-d0a0-5b05-bff1-0e28a63155b8/scratchpad/deck/icon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7528" y="1188720"/>
            <a:ext cx="1463040" cy="14630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2971800"/>
            <a:ext cx="12188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start with one class.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0" y="388620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A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Yousef Hawwari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0" y="42976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+971 55 599 0694    ·    yousefhawwari@gmail.com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0" y="6035040"/>
            <a:ext cx="12188952" cy="822960"/>
          </a:xfrm>
          <a:prstGeom prst="rect">
            <a:avLst/>
          </a:prstGeom>
          <a:solidFill>
            <a:srgbClr val="1E204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0080" y="6144768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child, the hero of their own story.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2026-09-25T17:56:34Z</dcterms:created>
  <dcterms:modified xsi:type="dcterms:W3CDTF">2026-09-25T17:56:34Z</dcterms:modified>
</cp:coreProperties>
</file>